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317" r:id="rId5"/>
    <p:sldId id="307" r:id="rId6"/>
    <p:sldId id="308" r:id="rId7"/>
    <p:sldId id="309" r:id="rId8"/>
    <p:sldId id="263" r:id="rId9"/>
    <p:sldId id="310" r:id="rId10"/>
    <p:sldId id="318" r:id="rId11"/>
    <p:sldId id="319" r:id="rId12"/>
    <p:sldId id="278" r:id="rId13"/>
    <p:sldId id="312" r:id="rId14"/>
    <p:sldId id="314" r:id="rId15"/>
    <p:sldId id="320" r:id="rId16"/>
    <p:sldId id="315" r:id="rId17"/>
    <p:sldId id="321" r:id="rId18"/>
    <p:sldId id="322" r:id="rId19"/>
    <p:sldId id="323" r:id="rId20"/>
    <p:sldId id="30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405" autoAdjust="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12/25/2025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12/25/2025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F4581-FB9F-F584-03A5-4DB33937E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701C38-D9B8-D316-EC0B-D036901320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EEF412-FBAC-65BC-C61D-A553739FC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8EA61A-D053-37DF-323C-AB38A99552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132885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A7DCB-5980-1874-F42A-F484DB112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8C19A7-0AC9-CCB5-AF29-06EE6D4BD6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81E4DB-799C-EA1A-2ECF-8F4C610586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A41D0F-46C0-11C5-AE11-E0148FBDAD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917464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40918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24997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099865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002F8-EB0A-A94B-7597-AE7BADF4C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7F543A-E880-31A3-80DA-A19541653F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354BBD-EC63-4D4D-5DAD-903A83D3BB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E18439-D9B6-53C6-B0E8-68EB0A1699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401444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327485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A1170-0899-70BC-A942-54219F80F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01A9C3-C9BE-CBBF-F205-F0A9537E8F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86BF2F-2EDF-8788-8EE2-8845B99F61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2E256-CE59-D403-000B-CBA7603BFC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403633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C8200-FA09-C708-2C4F-3DD035A5B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947F5B-9696-59C2-90D1-1EDF30B812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773B90-79A1-2542-2972-F51FE58D23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F67783-9E01-C885-1B6B-2D1E322528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481539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8F233-E635-A5F5-13FD-338645BA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D7F09A-F61D-4B7F-37E7-326E131362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1DC944-37D8-B51B-637B-47A7C33E79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6DD1F2-8145-8CFE-9B36-F86C6731BA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456457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955" y="1042218"/>
            <a:ext cx="11366090" cy="3701845"/>
          </a:xfrm>
        </p:spPr>
        <p:txBody>
          <a:bodyPr anchor="ctr"/>
          <a:lstStyle/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IMPLEMENTATION OF LIGHTWEIGHT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DUAL-BRANCH META-LEARNER FOR FEW-SHOT HYPERSPECTRAL IMAGE 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CLASSIFICATION:IMPLEMENTATION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AND EVALUATION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7FB5324D-FB75-81EC-4BBA-CD28F5D7F2E9}"/>
              </a:ext>
            </a:extLst>
          </p:cNvPr>
          <p:cNvSpPr txBox="1">
            <a:spLocks/>
          </p:cNvSpPr>
          <p:nvPr/>
        </p:nvSpPr>
        <p:spPr>
          <a:xfrm>
            <a:off x="4729317" y="5294670"/>
            <a:ext cx="6546760" cy="10668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Muhammad Miqdad Ramadhan F</a:t>
            </a:r>
          </a:p>
          <a:p>
            <a:pPr algn="r"/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Muhammad Khairul Ikhsan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6C7B-D29F-368C-FEEC-CDFA125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480" y="914400"/>
            <a:ext cx="5641848" cy="5029200"/>
          </a:xfrm>
        </p:spPr>
        <p:txBody>
          <a:bodyPr/>
          <a:lstStyle/>
          <a:p>
            <a:r>
              <a:rPr 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CONTENT</a:t>
            </a:r>
            <a:endParaRPr lang="en-US" sz="480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0D6FB95E-6987-A57C-3663-3FD6F6FAC2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4666694"/>
              </p:ext>
            </p:extLst>
          </p:nvPr>
        </p:nvGraphicFramePr>
        <p:xfrm>
          <a:off x="6096000" y="2028522"/>
          <a:ext cx="5062435" cy="2800955"/>
        </p:xfrm>
        <a:graphic>
          <a:graphicData uri="http://schemas.openxmlformats.org/drawingml/2006/table">
            <a:tbl>
              <a:tblPr firstRow="1" bandRow="1"/>
              <a:tblGrid>
                <a:gridCol w="5062435">
                  <a:extLst>
                    <a:ext uri="{9D8B030D-6E8A-4147-A177-3AD203B41FA5}">
                      <a16:colId xmlns:a16="http://schemas.microsoft.com/office/drawing/2014/main" val="1563570424"/>
                    </a:ext>
                  </a:extLst>
                </a:gridCol>
              </a:tblGrid>
              <a:tr h="782798">
                <a:tc>
                  <a:txBody>
                    <a:bodyPr/>
                    <a:lstStyle/>
                    <a:p>
                      <a:pPr algn="r"/>
                      <a:r>
                        <a:rPr lang="en-US" sz="2400" b="1" kern="120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Arsitektur</a:t>
                      </a:r>
                      <a:r>
                        <a:rPr lang="en-US" sz="2400" b="1" kern="120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DMCM2</a:t>
                      </a:r>
                      <a:endParaRPr lang="en-US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algn="r"/>
                      <a:endParaRPr lang="en-US" sz="2400" b="0" dirty="0"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9471877"/>
                  </a:ext>
                </a:extLst>
              </a:tr>
              <a:tr h="979008">
                <a:tc>
                  <a:txBody>
                    <a:bodyPr/>
                    <a:lstStyle/>
                    <a:p>
                      <a:pPr algn="r"/>
                      <a:r>
                        <a:rPr lang="en-US" sz="2400" b="1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Metodelogi</a:t>
                      </a: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2400" b="1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Implementasi</a:t>
                      </a:r>
                      <a:endParaRPr lang="en-US" sz="2400" b="1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238222"/>
                  </a:ext>
                </a:extLst>
              </a:tr>
              <a:tr h="998987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Hasil dan </a:t>
                      </a:r>
                      <a:r>
                        <a:rPr lang="en-US" sz="2400" b="1" kern="120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Analisis</a:t>
                      </a:r>
                      <a:endParaRPr lang="en-US" sz="2400" b="1" kern="1200" dirty="0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pPr marL="0" algn="r" defTabSz="914400" rtl="0" eaLnBrk="1" latinLnBrk="0" hangingPunct="1"/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44526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EE45-3924-5A20-4FDE-7EA6BBEBD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934" y="914400"/>
            <a:ext cx="6980903" cy="5029200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ARSITEKTUR DMCM2</a:t>
            </a:r>
            <a:endParaRPr lang="en-US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09502D2-C42D-E6A2-2C03-3DCFC18238AB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07" y="521110"/>
            <a:ext cx="8475406" cy="914400"/>
          </a:xfrm>
        </p:spPr>
        <p:txBody>
          <a:bodyPr/>
          <a:lstStyle/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Kerangka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pembelajaran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Lightweight Dual Branch Meta learner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FDA37B-399A-B9F0-7A7D-2A891EB7FF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50607" y="1602271"/>
            <a:ext cx="9242322" cy="4528837"/>
          </a:xfrm>
        </p:spPr>
        <p:txBody>
          <a:bodyPr>
            <a:noAutofit/>
          </a:bodyPr>
          <a:lstStyle/>
          <a:p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Arsitektur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TGAN2</a:t>
            </a:r>
          </a:p>
          <a:p>
            <a:pPr marL="0" indent="0">
              <a:buNone/>
            </a:pP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Jaringan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perhatian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hantu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3D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dengan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260K parameter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ekstraksi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fitur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efisien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0" indent="0">
              <a:buNone/>
            </a:pP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Metrik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CCM</a:t>
            </a:r>
          </a:p>
          <a:p>
            <a:pPr marL="0" indent="0">
              <a:buNone/>
            </a:pP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Pengukuran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jarak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berbasis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kovarians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menangkap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variasi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intra-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kelas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0" indent="0">
              <a:buNone/>
            </a:pP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Strategi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Intracorrection</a:t>
            </a: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Memperbaiki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representasi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set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dukungan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selama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pelatihan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meta.</a:t>
            </a:r>
          </a:p>
          <a:p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Efisiensi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Komputasi</a:t>
            </a: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Pelatihan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18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menit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inferensi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2,5ms per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sampel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memungkinkan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penerapan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pada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perangkat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terbatas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0" indent="0"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2A3D95EF-8A67-7F71-37EF-9EB02511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1199534"/>
            <a:ext cx="10360152" cy="5349977"/>
          </a:xfrm>
        </p:spPr>
        <p:txBody>
          <a:bodyPr anchor="b"/>
          <a:lstStyle/>
          <a:p>
            <a:pPr algn="l"/>
            <a:r>
              <a:rPr lang="en-US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Arsitektur</a:t>
            </a:r>
            <a:r>
              <a:rPr lang="en-US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Ringan</a:t>
            </a:r>
            <a:b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Hanya 260K parameter, 93.9%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lebih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sedikit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dari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ResNet-12.</a:t>
            </a:r>
            <a:b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GA2 Block</a:t>
            </a:r>
            <a:b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Integrasi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konvolusi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ghost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dengan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ekstraksi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dimensi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spesifik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b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Ghost Module v2</a:t>
            </a:r>
            <a:b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Menghasilkan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fitur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intrinsik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dan ghost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dengan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konvolusi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hemat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b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DFC Attention</a:t>
            </a:r>
            <a:b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Rekalibrasi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adaptif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respons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sepanjang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dimensi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tinggi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dan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lebar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br>
              <a:rPr lang="en-US" sz="2600" dirty="0"/>
            </a:br>
            <a:endParaRPr lang="en-US" sz="2600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61377AF6-2477-81EC-D1BC-43FD72DF18F6}"/>
              </a:ext>
            </a:extLst>
          </p:cNvPr>
          <p:cNvSpPr txBox="1">
            <a:spLocks/>
          </p:cNvSpPr>
          <p:nvPr/>
        </p:nvSpPr>
        <p:spPr>
          <a:xfrm>
            <a:off x="657238" y="151392"/>
            <a:ext cx="10618838" cy="970493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TGAN2 DENGAN 260K PARAMETER</a:t>
            </a:r>
            <a:endParaRPr lang="en-US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49404F1-8E94-7D3D-71E2-A1A4B7CBC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152" y="530352"/>
            <a:ext cx="10360152" cy="649224"/>
          </a:xfrm>
        </p:spPr>
        <p:txBody>
          <a:bodyPr/>
          <a:lstStyle/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Metrik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berbasis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kovarians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(CCM)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4A3718F-D67C-255A-4B64-BA379609FCD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5152" y="1307690"/>
            <a:ext cx="10518648" cy="4857136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err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Pengukuran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jarak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Mahalanobis</a:t>
            </a:r>
            <a:endParaRPr lang="en-US" b="1" dirty="0">
              <a:solidFill>
                <a:schemeClr val="accent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Menggunakan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matriks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kovarians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kelas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menghitung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jarak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yang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lebih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akurat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antara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sampel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Matriks</a:t>
            </a:r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kovarians</a:t>
            </a:r>
            <a:endParaRPr lang="en-US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Menangkap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variasi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intra-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kelas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dengan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regularisasi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stabilitas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numerik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sv-SE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Perhitungan prototipe</a:t>
            </a:r>
          </a:p>
          <a:p>
            <a:r>
              <a:rPr lang="sv-SE" b="1" dirty="0">
                <a:latin typeface="Courier New" panose="02070309020205020404" pitchFamily="49" charset="0"/>
                <a:cs typeface="Courier New" panose="02070309020205020404" pitchFamily="49" charset="0"/>
              </a:rPr>
              <a:t>Rata-rata fitur dukungan untuk setiap kelas menjadi representasi pusat kelas.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Keunggulan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metrik</a:t>
            </a:r>
            <a:endParaRPr lang="en-US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Meningkatkan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akurasi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0.67%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dibanding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metrik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Euclidean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tanpa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parameter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tambahan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15127-2A49-A644-B1EC-D366EBBE4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706FA-D013-698D-B17B-66956D79D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934" y="914400"/>
            <a:ext cx="8819537" cy="5029200"/>
          </a:xfrm>
        </p:spPr>
        <p:txBody>
          <a:bodyPr/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METODOLOGI 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IMPLEMENTASI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AB3D85D-9F16-70D1-1AC1-439618E8416F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</p:spTree>
    <p:extLst>
      <p:ext uri="{BB962C8B-B14F-4D97-AF65-F5344CB8AC3E}">
        <p14:creationId xmlns:p14="http://schemas.microsoft.com/office/powerpoint/2010/main" val="2568254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F9750-32DE-F9A3-39CF-1AB397D1D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C319B524-56F6-247A-240B-1DD732103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07" y="431924"/>
            <a:ext cx="8475406" cy="589936"/>
          </a:xfrm>
        </p:spPr>
        <p:txBody>
          <a:bodyPr/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PREPROCESSING DATA HIPERSPEKTRAL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0DD901E-8544-D01C-CEFB-04F568B2D95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50607" y="1164581"/>
            <a:ext cx="9989574" cy="4528837"/>
          </a:xfrm>
        </p:spPr>
        <p:txBody>
          <a:bodyPr>
            <a:noAutofit/>
          </a:bodyPr>
          <a:lstStyle/>
          <a:p>
            <a:pPr algn="just"/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Reduksi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Spektral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PCA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mengurangi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dimensi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dari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103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menjadi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100 band,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mempertahankan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99%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varians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0" indent="0" algn="just">
              <a:buNone/>
            </a:pP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Normalisasi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Data </a:t>
            </a:r>
          </a:p>
          <a:p>
            <a:pPr marL="0" indent="0" algn="just">
              <a:buNone/>
            </a:pP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Penskalaan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min-max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[0,1]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standardisasi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nilai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piksel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0" indent="0" algn="just">
              <a:buNone/>
            </a:pP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Ekstraksi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Patch </a:t>
            </a:r>
          </a:p>
          <a:p>
            <a:pPr marL="0" indent="0" algn="just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Patch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spasial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9×9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dengan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padding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simetris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di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setiap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piksel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berlabel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0" indent="0" algn="just">
              <a:buNone/>
            </a:pP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Pembagian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Few-shot </a:t>
            </a:r>
          </a:p>
          <a:p>
            <a:pPr marL="0" indent="0" algn="just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5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sampel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support set, 15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query set,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sisanya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test set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0B8E96-A785-8AE5-9A38-076177FD0E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576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7FCD89C-FA8A-73D3-DD8B-6A052F21B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916" y="491613"/>
            <a:ext cx="10658168" cy="707922"/>
          </a:xfrm>
        </p:spPr>
        <p:txBody>
          <a:bodyPr/>
          <a:lstStyle/>
          <a:p>
            <a:r>
              <a:rPr lang="en-US" sz="4000" b="1" dirty="0">
                <a:latin typeface="Courier New" panose="02070309020205020404" pitchFamily="49" charset="0"/>
                <a:cs typeface="Courier New" panose="02070309020205020404" pitchFamily="49" charset="0"/>
              </a:rPr>
              <a:t>GHOST MODULE V2</a:t>
            </a:r>
            <a:endParaRPr lang="en-US" sz="4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53358CAE-238F-8B4F-D9ED-AF5AF69D59C2}"/>
              </a:ext>
            </a:extLst>
          </p:cNvPr>
          <p:cNvSpPr txBox="1">
            <a:spLocks/>
          </p:cNvSpPr>
          <p:nvPr/>
        </p:nvSpPr>
        <p:spPr>
          <a:xfrm>
            <a:off x="896538" y="1199535"/>
            <a:ext cx="10398924" cy="486696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Modul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Efisien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Parameter,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Menghasilkan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fitur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intrinsik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dan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hantu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dengan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pengurangan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parameter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hingga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50%.</a:t>
            </a:r>
          </a:p>
          <a:p>
            <a:pPr algn="just"/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47675" indent="-447675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Proses Dua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Tahap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Tahap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1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menghasilkan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fitur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intrinsik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Tahap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2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menghasilkan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fitur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hantu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menggunakan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konvolusi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depthwise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447675" indent="-447675" algn="just"/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47675" indent="-447675" algn="just"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Penggabungan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Fitur, Fitur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intrinsik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dan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hantu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digabungkan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mencapai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keseimbangan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antara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performa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dan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efisiensi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komputasi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Pengurangan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Kompleksitas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Mencapai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pengurangan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parameter 50%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dengan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mempertahankan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kualitas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representasi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fitur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685800" indent="-685800" algn="just">
              <a:buFont typeface="Arial" panose="020B0604020202020204" pitchFamily="34" charset="0"/>
              <a:buChar char="•"/>
            </a:pP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85800" indent="-685800" algn="just">
              <a:buFont typeface="Arial" panose="020B0604020202020204" pitchFamily="34" charset="0"/>
              <a:buChar char="•"/>
            </a:pP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044F7-BD97-2FDE-4E33-A565BCF0E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406400"/>
            <a:ext cx="7534656" cy="650240"/>
          </a:xfrm>
        </p:spPr>
        <p:txBody>
          <a:bodyPr/>
          <a:lstStyle/>
          <a:p>
            <a:r>
              <a:rPr lang="nl-NL" b="1" dirty="0">
                <a:latin typeface="Courier New" panose="02070309020205020404" pitchFamily="49" charset="0"/>
                <a:cs typeface="Courier New" panose="02070309020205020404" pitchFamily="49" charset="0"/>
              </a:rPr>
              <a:t>BLOK GA2 DAN DFC ATTENTION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97F60-88E2-C430-D52B-6604405AD55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8" y="1381760"/>
            <a:ext cx="10302241" cy="4846319"/>
          </a:xfrm>
        </p:spPr>
        <p:txBody>
          <a:bodyPr>
            <a:normAutofit lnSpcReduction="10000"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Arsitektur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Blok GA2Mengintegrasikan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konvolusi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ghost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dengan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ekstraksi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dimensi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spesifik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efisiensi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parameter.</a:t>
            </a:r>
          </a:p>
          <a:p>
            <a:pPr algn="just"/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Komponen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Utama Ghost Module v2,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konvolusi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dimensi-spesifik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dan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mekanisme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penggabungan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fitur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algn="just"/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DFC Attention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Mengkalibrasi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respons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fitur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secara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adaptif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menggunakan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pooling rata-rata global dan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proyeksi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yang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dipelajari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algn="just"/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Keunggulan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Desain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Mengurangi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parameter 50%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sambil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mempertahankan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performa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klasifikasi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yang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kompetitif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algn="just"/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909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B33A77B-664F-FFD3-D61A-0D344C269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558800"/>
            <a:ext cx="10360152" cy="568960"/>
          </a:xfrm>
        </p:spPr>
        <p:txBody>
          <a:bodyPr/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STRATEGI PEMBELAJARAN INTRACORRECTION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B0F3C-5228-C9FB-1212-1D4894C80B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1270000"/>
            <a:ext cx="10360151" cy="4609804"/>
          </a:xfrm>
        </p:spPr>
        <p:txBody>
          <a:bodyPr>
            <a:normAutofit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sv-SE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Peningkatan kualitas set dukungan memperlakukan sampel dukungan sebagai kueri selama pelatihan untuk meningkatkan representasi.</a:t>
            </a:r>
          </a:p>
          <a:p>
            <a:pPr marL="0" indent="0" algn="just">
              <a:buNone/>
            </a:pPr>
            <a:endParaRPr lang="sv-SE" sz="2400" b="1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Kombinasi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fungsi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kerugian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menggabungkan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kerugian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kueri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dan </a:t>
            </a: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kerugian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ic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dengan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bobot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l-GR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λ</a:t>
            </a: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ic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=1.0.</a:t>
            </a:r>
          </a:p>
          <a:p>
            <a:pPr marL="0" indent="0" algn="just">
              <a:buNone/>
            </a:pPr>
            <a:endParaRPr lang="en-US" sz="2400" b="1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Peningkatan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akurasi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memberikan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peningkatan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tambahan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sebesar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0.33% </a:t>
            </a: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dalam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kinerja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klasifikasi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0" indent="0" algn="just">
              <a:buNone/>
            </a:pPr>
            <a:endParaRPr lang="en-US" sz="2400" b="1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Pembelajaran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adaptif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memungkinkan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model </a:t>
            </a: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menyesuaikan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representasi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fitur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berdasarkan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karakteristik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kelas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algn="just"/>
            <a:endParaRPr lang="en-US" sz="2400" b="1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9500A-4B75-29F9-CE37-C3E13D6A5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147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5C6EA-AF18-2880-9D80-28CB7454D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C0FEF-0B19-8F1A-2F98-F228709E8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291" y="914400"/>
            <a:ext cx="8819537" cy="5029200"/>
          </a:xfrm>
        </p:spPr>
        <p:txBody>
          <a:bodyPr/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HASIL DAN ANALISIS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AC73B10-AE1E-7A32-6C0D-507F2DC27691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</p:spTree>
    <p:extLst>
      <p:ext uri="{BB962C8B-B14F-4D97-AF65-F5344CB8AC3E}">
        <p14:creationId xmlns:p14="http://schemas.microsoft.com/office/powerpoint/2010/main" val="2348101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E4F88F8-17E5-45E3-77B1-77FACD99F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457200"/>
            <a:ext cx="10360152" cy="518160"/>
          </a:xfrm>
        </p:spPr>
        <p:txBody>
          <a:bodyPr/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AKURASI 78.45% DENGAN 5-SHOT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2469ED-926E-7CEE-5AF2-BF9AC726D0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Title 9">
            <a:extLst>
              <a:ext uri="{FF2B5EF4-FFF2-40B4-BE49-F238E27FC236}">
                <a16:creationId xmlns:a16="http://schemas.microsoft.com/office/drawing/2014/main" id="{3BBB3C72-A610-24F4-750C-7DE04E7C2C1E}"/>
              </a:ext>
            </a:extLst>
          </p:cNvPr>
          <p:cNvSpPr txBox="1">
            <a:spLocks/>
          </p:cNvSpPr>
          <p:nvPr/>
        </p:nvSpPr>
        <p:spPr>
          <a:xfrm>
            <a:off x="915924" y="975360"/>
            <a:ext cx="10360152" cy="4826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Performa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tinggi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sv-S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Akurasi 78.45% dengan hanya 5 sampel per kelas.</a:t>
            </a:r>
          </a:p>
          <a:p>
            <a:pPr algn="just"/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Arsitektur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ringan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Hanya 260K parameter, 93.9%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lebih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sedikit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dari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ResNet-12.</a:t>
            </a:r>
          </a:p>
          <a:p>
            <a:pPr algn="just"/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Efesiensi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komputasi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sv-S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Pelatihan cepat (18 menit) dan inferensi 2.5ms per sampel.</a:t>
            </a:r>
          </a:p>
          <a:p>
            <a:pPr algn="just"/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Metrik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Kelas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CCM</a:t>
            </a:r>
          </a:p>
          <a:p>
            <a:pPr algn="just"/>
            <a:r>
              <a:rPr lang="sv-S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Pengukuran jarak Mahalanobis berdasarkan matriks kovarians kelas.</a:t>
            </a:r>
          </a:p>
        </p:txBody>
      </p:sp>
    </p:spTree>
    <p:extLst>
      <p:ext uri="{BB962C8B-B14F-4D97-AF65-F5344CB8AC3E}">
        <p14:creationId xmlns:p14="http://schemas.microsoft.com/office/powerpoint/2010/main" val="3064996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D3B798-8F69-BE2E-DF75-E9C3F74BF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63F9B6AB-F85A-B224-45A1-684CDD1DF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1121885"/>
            <a:ext cx="10360152" cy="4730871"/>
          </a:xfrm>
        </p:spPr>
        <p:txBody>
          <a:bodyPr anchor="b"/>
          <a:lstStyle/>
          <a:p>
            <a:pPr algn="l"/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Performa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kompetitif</a:t>
            </a:r>
            <a:b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Akurasi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78.45%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melebihi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metode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klasik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dengan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parameter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jauh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lebih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sedikit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b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Arsitektur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ringan</a:t>
            </a:r>
            <a:b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TGAN2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hanya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260K parameter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dibanding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ResNet-12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dengan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4.26M parameter.</a:t>
            </a:r>
            <a:b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Efesiensi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komputasi</a:t>
            </a:r>
            <a:b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sv-S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Pelatihan cepat 18 menit, inferensi 2.5ms per sampel.</a:t>
            </a:r>
            <a:br>
              <a:rPr lang="sv-S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Ghost module</a:t>
            </a:r>
            <a:b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Mengurangi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parameter 50%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dengan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penurunan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akurasi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minimal 1.44%.</a:t>
            </a:r>
            <a:endParaRPr lang="sv-SE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5D33064D-16F1-DF23-0BC9-94CF77478BD3}"/>
              </a:ext>
            </a:extLst>
          </p:cNvPr>
          <p:cNvSpPr txBox="1">
            <a:spLocks/>
          </p:cNvSpPr>
          <p:nvPr/>
        </p:nvSpPr>
        <p:spPr>
          <a:xfrm>
            <a:off x="915924" y="259279"/>
            <a:ext cx="10360152" cy="74596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93.9% LEBIH SEDIKIT PARAMETER</a:t>
            </a:r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03960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414F0-FD6B-6AA0-CC55-483B3084B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B975BB6-9E80-2F85-8CA2-A796E8766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406400"/>
            <a:ext cx="10078721" cy="650240"/>
          </a:xfrm>
        </p:spPr>
        <p:txBody>
          <a:bodyPr/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WAKTU PELATIHAN 18 MENIT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B4E4B-4D7D-AE7E-2160-78D6443328A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8" y="1381760"/>
            <a:ext cx="10302241" cy="4846319"/>
          </a:xfrm>
        </p:spPr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Pelatihan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Cepat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Arsitektur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ringan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memungkinkan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pelatihan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efisien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dalam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18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menit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54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detik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per epoch.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sv-S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Konvergensi Stabil Akurasi meningkat dari 31,56% (epoch 1) menjadi 90,12% (epoch 20).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sv-SE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Efisiensi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Tinggi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Pengurangan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93,9% parameter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dibanding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ResNet-12,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dengan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inferensi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cepat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2,5ms per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sampel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Keseimbangan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Optimal 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Menawarkan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kompromi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terbaik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antara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akurasi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dan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kompleksitas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komputasi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algn="just"/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6064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36ECD-2302-162D-023C-CD1569AF1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F4634FA-FE05-CA43-F48E-4A2F8FCA5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558800"/>
            <a:ext cx="10360152" cy="568960"/>
          </a:xfrm>
        </p:spPr>
        <p:txBody>
          <a:bodyPr/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ANALISIS KOMPONEN DAN KESALAHAN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6B9EC-8324-FF82-F1A4-37A4FB58C5C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1270000"/>
            <a:ext cx="10360151" cy="4609804"/>
          </a:xfrm>
        </p:spPr>
        <p:txBody>
          <a:bodyPr>
            <a:normAutofit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Analisis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komponen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ghost module </a:t>
            </a: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meningkatkan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1.44%, GA2 block 1.22%, </a:t>
            </a: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0.56%, ccm 0.67%, IC learning 0.33%.</a:t>
            </a:r>
          </a:p>
          <a:p>
            <a:pPr marL="0" indent="0" algn="just">
              <a:buNone/>
            </a:pPr>
            <a:endParaRPr lang="en-US" sz="2400" b="1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Ukuran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9×9 </a:t>
            </a: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memberikan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keseimbangan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terbaik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dibanding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ukuran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lebih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kecil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atau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lebih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besar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0" indent="0" algn="just">
              <a:buNone/>
            </a:pPr>
            <a:endParaRPr lang="en-US" sz="2400" b="1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Metrik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jarak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ccm (78.45%) </a:t>
            </a: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mengungguli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euclidean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(77.45%), cosine (77.12%), dan </a:t>
            </a: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manhattan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(76.89%).</a:t>
            </a:r>
          </a:p>
          <a:p>
            <a:pPr marL="0" indent="0" algn="just">
              <a:buNone/>
            </a:pPr>
            <a:endParaRPr lang="en-US" sz="2400" b="1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Pola </a:t>
            </a: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kesalahan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bayangan→aspal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(12.3%), </a:t>
            </a: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padang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rumput→pohon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(8.7%), </a:t>
            </a: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bata→tanah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(7.4%) </a:t>
            </a: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karena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kemiripan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spektral</a:t>
            </a:r>
            <a:r>
              <a:rPr lang="en-US" sz="2400" b="1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400" b="1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59A78-9ACB-A8B6-B7E0-BB025CDB25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7823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914400"/>
            <a:ext cx="5641848" cy="5029200"/>
          </a:xfrm>
        </p:spPr>
        <p:txBody>
          <a:bodyPr/>
          <a:lstStyle/>
          <a:p>
            <a:r>
              <a:rPr lang="en-US" sz="5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THANK YOU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6DCC38C-603B-CCD0-2914-0BBCD4F4F7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11848" y="5455920"/>
            <a:ext cx="4996688" cy="1168400"/>
          </a:xfrm>
        </p:spPr>
        <p:txBody>
          <a:bodyPr anchor="ctr">
            <a:normAutofit/>
          </a:bodyPr>
          <a:lstStyle/>
          <a:p>
            <a:pPr lvl="1"/>
            <a:r>
              <a:rPr lang="pt-B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mqdad@mhs.usk.ac.id m.khairuli@mhs.usk.ac.id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{5C743C63-B406-4B88-B645-2722E3CEEB40}TF1ed9553b-00c4-4092-846a-c8f7f2908f3beecd942f_win32-8e33096c3cfc</Template>
  <TotalTime>68</TotalTime>
  <Words>778</Words>
  <Application>Microsoft Office PowerPoint</Application>
  <PresentationFormat>Widescreen</PresentationFormat>
  <Paragraphs>127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Courier New</vt:lpstr>
      <vt:lpstr>Gill Sans Nova Light</vt:lpstr>
      <vt:lpstr>Sagona Book</vt:lpstr>
      <vt:lpstr>Custom</vt:lpstr>
      <vt:lpstr>IMPLEMENTATION OF LIGHTWEIGHT DUAL-BRANCH META-LEARNER FOR FEW-SHOT HYPERSPECTRAL IMAGE CLASSIFICATION:IMPLEMENTATION AND EVALUATION</vt:lpstr>
      <vt:lpstr>CONTENT</vt:lpstr>
      <vt:lpstr>ARSITEKTUR DMCM2</vt:lpstr>
      <vt:lpstr>Kerangka pembelajaran Lightweight Dual Branch Meta learner</vt:lpstr>
      <vt:lpstr>Arsitektur Ringan Hanya 260K parameter, 93.9% lebih sedikit dari ResNet-12.  GA2 Block Integrasi konvolusi ghost dengan ekstraksi dimensi spesifik.  Ghost Module v2 Menghasilkan fitur intrinsik dan ghost dengan konvolusi hemat.  DFC Attention Rekalibrasi adaptif respons sepanjang dimensi tinggi dan lebar. </vt:lpstr>
      <vt:lpstr>Metrik berbasis kovarians (CCM)</vt:lpstr>
      <vt:lpstr>METODOLOGI  IMPLEMENTASI</vt:lpstr>
      <vt:lpstr>PREPROCESSING DATA HIPERSPEKTRAL</vt:lpstr>
      <vt:lpstr>GHOST MODULE V2</vt:lpstr>
      <vt:lpstr>BLOK GA2 DAN DFC ATTENTION</vt:lpstr>
      <vt:lpstr>STRATEGI PEMBELAJARAN INTRACORRECTION</vt:lpstr>
      <vt:lpstr>HASIL DAN ANALISIS</vt:lpstr>
      <vt:lpstr>AKURASI 78.45% DENGAN 5-SHOT</vt:lpstr>
      <vt:lpstr>Performa kompetitif Akurasi 78.45% melebihi metode klasik dengan parameter jauh lebih sedikit.  Arsitektur ringan TGAN2 hanya 260K parameter dibanding ResNet-12 dengan 4.26M parameter.  Efesiensi komputasi Pelatihan cepat 18 menit, inferensi 2.5ms per sampel.  Ghost module Mengurangi parameter 50% dengan penurunan akurasi minimal 1.44%.</vt:lpstr>
      <vt:lpstr>WAKTU PELATIHAN 18 MENIT</vt:lpstr>
      <vt:lpstr>ANALISIS KOMPONEN DAN KESALAHAN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Sakura No Koro</dc:creator>
  <cp:lastModifiedBy>Sakura No Koro</cp:lastModifiedBy>
  <cp:revision>2</cp:revision>
  <dcterms:created xsi:type="dcterms:W3CDTF">2025-12-24T06:55:19Z</dcterms:created>
  <dcterms:modified xsi:type="dcterms:W3CDTF">2025-12-25T15:52:26Z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